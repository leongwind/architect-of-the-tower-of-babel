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6" r:id="rId9"/>
    <p:sldId id="261" r:id="rId10"/>
    <p:sldId id="267" r:id="rId11"/>
    <p:sldId id="268" r:id="rId12"/>
    <p:sldId id="262" r:id="rId13"/>
    <p:sldId id="263" r:id="rId14"/>
    <p:sldId id="264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8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13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2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5.png"/><Relationship Id="rId14" Type="http://schemas.openxmlformats.org/officeDocument/2006/relationships/tags" Target="../tags/tag25.xml"/><Relationship Id="rId13" Type="http://schemas.openxmlformats.org/officeDocument/2006/relationships/image" Target="../media/image14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8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5829154" y="1639079"/>
            <a:ext cx="533386" cy="406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3184" y="2436494"/>
            <a:ext cx="7035800" cy="7423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2080"/>
              </a:spcAft>
            </a:pPr>
            <a:r>
              <a:rPr sz="5400" b="1">
                <a:solidFill>
                  <a:srgbClr val="FFFFFF"/>
                </a:solidFill>
              </a:rPr>
              <a:t>词向量与语言模型基石</a:t>
            </a:r>
            <a:endParaRPr sz="5400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43371" y="3504565"/>
            <a:ext cx="1904952" cy="28575"/>
          </a:xfrm>
          <a:prstGeom prst="rect">
            <a:avLst/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431194" y="3700144"/>
            <a:ext cx="331978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2000" b="0">
                <a:solidFill>
                  <a:srgbClr val="E0E0E0"/>
                </a:solidFill>
              </a:rPr>
              <a:t>NLP学习规划 · 第1周</a:t>
            </a:r>
            <a:r>
              <a:rPr lang="en-US" sz="2000" b="0">
                <a:solidFill>
                  <a:srgbClr val="E0E0E0"/>
                </a:solidFill>
              </a:rPr>
              <a:t> · </a:t>
            </a:r>
            <a:r>
              <a:rPr lang="zh-CN" altLang="en-US" sz="2000" b="0">
                <a:solidFill>
                  <a:srgbClr val="E0E0E0"/>
                </a:solidFill>
              </a:rPr>
              <a:t>冯亚枝</a:t>
            </a:r>
            <a:endParaRPr lang="zh-CN" altLang="en-US" sz="2000" b="0">
              <a:solidFill>
                <a:srgbClr val="E0E0E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727979" y="4728845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6050" y="4603750"/>
            <a:ext cx="1442720" cy="43942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0B0B0"/>
                </a:solidFill>
              </a:rPr>
              <a:t>Word2Vec</a:t>
            </a:r>
            <a:endParaRPr sz="2400" b="1">
              <a:solidFill>
                <a:srgbClr val="B0B0B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24361" y="4700905"/>
            <a:ext cx="19049" cy="228600"/>
          </a:xfrm>
          <a:prstGeom prst="rect">
            <a:avLst/>
          </a:prstGeom>
          <a:solidFill>
            <a:srgbClr val="4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69135" y="4707890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6131" y="4587875"/>
            <a:ext cx="897255" cy="4781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0B0B0"/>
                </a:solidFill>
              </a:rPr>
              <a:t>GloVe</a:t>
            </a:r>
            <a:endParaRPr sz="2400" b="1">
              <a:solidFill>
                <a:srgbClr val="B0B0B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29256" y="4700905"/>
            <a:ext cx="19049" cy="228600"/>
          </a:xfrm>
          <a:prstGeom prst="rect">
            <a:avLst/>
          </a:prstGeom>
          <a:solidFill>
            <a:srgbClr val="4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62599" y="4700905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01648" y="4565015"/>
            <a:ext cx="1370330" cy="4781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0B0B0"/>
                </a:solidFill>
              </a:rPr>
              <a:t>语言模型</a:t>
            </a:r>
            <a:endParaRPr sz="2400" b="1">
              <a:solidFill>
                <a:srgbClr val="B0B0B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3" name="TextBox 2"/>
          <p:cNvSpPr txBox="1"/>
          <p:nvPr/>
        </p:nvSpPr>
        <p:spPr>
          <a:xfrm>
            <a:off x="582913" y="165418"/>
            <a:ext cx="1931670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</a:rPr>
              <a:t>学习目标</a:t>
            </a:r>
            <a:endParaRPr sz="35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285972"/>
            <a:ext cx="304792" cy="246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256348"/>
            <a:ext cx="1677670" cy="4591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核心内容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85822" y="1933574"/>
            <a:ext cx="76198" cy="762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6318" y="1805304"/>
            <a:ext cx="122618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E0E0E0"/>
                </a:solidFill>
              </a:rPr>
              <a:t>Word2Vec</a:t>
            </a:r>
            <a:endParaRPr sz="2000" b="1">
              <a:solidFill>
                <a:srgbClr val="E0E0E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6318" y="2219008"/>
            <a:ext cx="223075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0B0"/>
                </a:solidFill>
              </a:rPr>
              <a:t>Skip-gram / CBOW 模型架构</a:t>
            </a:r>
            <a:endParaRPr sz="1400" b="0">
              <a:solidFill>
                <a:srgbClr val="B0B0B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85822" y="2762249"/>
            <a:ext cx="76198" cy="762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6318" y="2633980"/>
            <a:ext cx="77152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E0E0E0"/>
                </a:solidFill>
              </a:rPr>
              <a:t>GloVe</a:t>
            </a:r>
            <a:endParaRPr sz="2000" b="1">
              <a:solidFill>
                <a:srgbClr val="E0E0E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6318" y="3047683"/>
            <a:ext cx="174625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0B0"/>
                </a:solidFill>
              </a:rPr>
              <a:t>全局词向量表示模型</a:t>
            </a:r>
            <a:endParaRPr sz="1400" b="0">
              <a:solidFill>
                <a:srgbClr val="B0B0B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85822" y="3590924"/>
            <a:ext cx="76198" cy="762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6318" y="3462655"/>
            <a:ext cx="218821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E0E0E0"/>
                </a:solidFill>
              </a:rPr>
              <a:t>统计语言模型基础</a:t>
            </a:r>
            <a:endParaRPr sz="2000" b="1">
              <a:solidFill>
                <a:srgbClr val="E0E0E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76318" y="3876358"/>
            <a:ext cx="214757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B0B0"/>
                </a:solidFill>
              </a:rPr>
              <a:t>N-gram 模型与困惑度评估</a:t>
            </a:r>
            <a:endParaRPr sz="1400" b="0">
              <a:solidFill>
                <a:srgbClr val="B0B0B0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536404" y="1203080"/>
            <a:ext cx="304792" cy="2608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55494" y="1188403"/>
            <a:ext cx="1677670" cy="4591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具体任务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>
            <p:custDataLst>
              <p:tags r:id="rId3"/>
            </p:custDataLst>
          </p:nvPr>
        </p:nvSpPr>
        <p:spPr>
          <a:xfrm>
            <a:off x="5587829" y="1801494"/>
            <a:ext cx="4686182" cy="1171575"/>
          </a:xfrm>
          <a:prstGeom prst="roundRect">
            <a:avLst>
              <a:gd name="adj" fmla="val 13008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>
            <p:custDataLst>
              <p:tags r:id="rId4"/>
            </p:custDataLst>
          </p:nvPr>
        </p:nvSpPr>
        <p:spPr>
          <a:xfrm rot="16200000">
            <a:off x="5051572" y="2337751"/>
            <a:ext cx="11715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5"/>
            </p:custDataLst>
          </p:nvPr>
        </p:nvSpPr>
        <p:spPr>
          <a:xfrm>
            <a:off x="5841365" y="1958975"/>
            <a:ext cx="449580" cy="5092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7DE545"/>
                </a:solidFill>
              </a:rPr>
              <a:t>01</a:t>
            </a:r>
            <a:endParaRPr sz="1915" b="1">
              <a:solidFill>
                <a:srgbClr val="7DE545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6"/>
            </p:custDataLst>
          </p:nvPr>
        </p:nvSpPr>
        <p:spPr>
          <a:xfrm>
            <a:off x="6188075" y="2082483"/>
            <a:ext cx="2964180" cy="384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推导 Skip-gram 损失函数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>
            <p:custDataLst>
              <p:tags r:id="rId7"/>
            </p:custDataLst>
          </p:nvPr>
        </p:nvSpPr>
        <p:spPr>
          <a:xfrm>
            <a:off x="6187889" y="2486977"/>
            <a:ext cx="3895627" cy="33401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理解模型训练的数学原理</a:t>
            </a:r>
            <a:endParaRPr sz="1400" b="0">
              <a:solidFill>
                <a:srgbClr val="C0C0C0"/>
              </a:solidFill>
            </a:endParaRPr>
          </a:p>
        </p:txBody>
      </p:sp>
      <p:sp>
        <p:nvSpPr>
          <p:cNvPr id="22" name="Rounded Rectangle 21"/>
          <p:cNvSpPr/>
          <p:nvPr>
            <p:custDataLst>
              <p:tags r:id="rId8"/>
            </p:custDataLst>
          </p:nvPr>
        </p:nvSpPr>
        <p:spPr>
          <a:xfrm>
            <a:off x="5587829" y="3163570"/>
            <a:ext cx="4686182" cy="1171575"/>
          </a:xfrm>
          <a:prstGeom prst="roundRect">
            <a:avLst>
              <a:gd name="adj" fmla="val 13008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>
            <p:custDataLst>
              <p:tags r:id="rId9"/>
            </p:custDataLst>
          </p:nvPr>
        </p:nvSpPr>
        <p:spPr>
          <a:xfrm rot="16200000">
            <a:off x="5051572" y="3699827"/>
            <a:ext cx="11715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0"/>
            </p:custDataLst>
          </p:nvPr>
        </p:nvSpPr>
        <p:spPr>
          <a:xfrm>
            <a:off x="5807075" y="3272155"/>
            <a:ext cx="442595" cy="5092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7DE545"/>
                </a:solidFill>
              </a:rPr>
              <a:t>02</a:t>
            </a:r>
            <a:endParaRPr sz="1915" b="1">
              <a:solidFill>
                <a:srgbClr val="7DE545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6245225" y="3395663"/>
            <a:ext cx="2144395" cy="384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讲解负采样原理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>
            <p:custDataLst>
              <p:tags r:id="rId12"/>
            </p:custDataLst>
          </p:nvPr>
        </p:nvSpPr>
        <p:spPr>
          <a:xfrm>
            <a:off x="6271709" y="3849051"/>
            <a:ext cx="3895627" cy="33401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掌握优化训练的关键技术</a:t>
            </a:r>
            <a:endParaRPr sz="1400" b="0">
              <a:solidFill>
                <a:srgbClr val="C0C0C0"/>
              </a:solidFill>
            </a:endParaRPr>
          </a:p>
        </p:txBody>
      </p:sp>
      <p:sp>
        <p:nvSpPr>
          <p:cNvPr id="27" name="Rounded Rectangle 26"/>
          <p:cNvSpPr/>
          <p:nvPr>
            <p:custDataLst>
              <p:tags r:id="rId13"/>
            </p:custDataLst>
          </p:nvPr>
        </p:nvSpPr>
        <p:spPr>
          <a:xfrm>
            <a:off x="5587829" y="4525645"/>
            <a:ext cx="4686182" cy="1171575"/>
          </a:xfrm>
          <a:prstGeom prst="roundRect">
            <a:avLst>
              <a:gd name="adj" fmla="val 13008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>
            <p:custDataLst>
              <p:tags r:id="rId14"/>
            </p:custDataLst>
          </p:nvPr>
        </p:nvSpPr>
        <p:spPr>
          <a:xfrm rot="16200000">
            <a:off x="5051572" y="5061902"/>
            <a:ext cx="11715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15"/>
            </p:custDataLst>
          </p:nvPr>
        </p:nvSpPr>
        <p:spPr>
          <a:xfrm>
            <a:off x="5807075" y="4627245"/>
            <a:ext cx="461645" cy="5092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7DE545"/>
                </a:solidFill>
              </a:rPr>
              <a:t>03</a:t>
            </a:r>
            <a:endParaRPr sz="1915" b="1">
              <a:solidFill>
                <a:srgbClr val="7DE545"/>
              </a:solidFill>
            </a:endParaRPr>
          </a:p>
        </p:txBody>
      </p:sp>
      <p:sp>
        <p:nvSpPr>
          <p:cNvPr id="30" name="TextBox 29"/>
          <p:cNvSpPr txBox="1"/>
          <p:nvPr>
            <p:custDataLst>
              <p:tags r:id="rId16"/>
            </p:custDataLst>
          </p:nvPr>
        </p:nvSpPr>
        <p:spPr>
          <a:xfrm>
            <a:off x="6245225" y="4748213"/>
            <a:ext cx="2931795" cy="384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对比 Word2Vec 与 GloVe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>
            <p:custDataLst>
              <p:tags r:id="rId17"/>
            </p:custDataLst>
          </p:nvPr>
        </p:nvSpPr>
        <p:spPr>
          <a:xfrm>
            <a:off x="6271709" y="5211128"/>
            <a:ext cx="3895627" cy="33401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深入理解两种模型的本质异同</a:t>
            </a:r>
            <a:endParaRPr sz="1400" b="0">
              <a:solidFill>
                <a:srgbClr val="C0C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1605" y="-8128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3006090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统计语言模型基础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3115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207134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语言模型定义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3390815" cy="1523999"/>
          </a:xfrm>
          <a:prstGeom prst="roundRect">
            <a:avLst>
              <a:gd name="adj" fmla="val 10000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45736" y="2474594"/>
            <a:ext cx="1523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5802" y="1923732"/>
            <a:ext cx="2787650" cy="4006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计算句子出现概率的数学模型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5802" y="2562224"/>
            <a:ext cx="57148" cy="5715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019149" y="2411412"/>
            <a:ext cx="1568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判断句子合理性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5802" y="2924175"/>
            <a:ext cx="57148" cy="5715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019149" y="2773363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预测下一个词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613638"/>
            <a:ext cx="304792" cy="1641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483610"/>
            <a:ext cx="129540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困惑度评估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6733" y="4038599"/>
            <a:ext cx="3390815" cy="1990724"/>
          </a:xfrm>
          <a:prstGeom prst="roundRect">
            <a:avLst>
              <a:gd name="adj" fmla="val 7655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279099" y="4984431"/>
            <a:ext cx="1990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85802" y="4194175"/>
            <a:ext cx="17716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衡量模型预测能力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5802" y="4657725"/>
            <a:ext cx="2981250" cy="781050"/>
          </a:xfrm>
          <a:prstGeom prst="roundRect">
            <a:avLst>
              <a:gd name="adj" fmla="val 9756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85825" y="4862830"/>
            <a:ext cx="3343275" cy="3422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indent="0" algn="l"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7DE545"/>
                </a:solidFill>
              </a:rPr>
              <a:t> Perplexity = exp(-1/N ∑log P(w</a:t>
            </a:r>
            <a:r>
              <a:rPr sz="1200" b="0" baseline="-25000">
                <a:solidFill>
                  <a:srgbClr val="7DE545"/>
                </a:solidFill>
              </a:rPr>
              <a:t>i</a:t>
            </a:r>
            <a:r>
              <a:rPr b="0">
                <a:solidFill>
                  <a:srgbClr val="7DE545"/>
                </a:solidFill>
              </a:rPr>
              <a:t>)) </a:t>
            </a:r>
            <a:endParaRPr b="0">
              <a:solidFill>
                <a:srgbClr val="7DE54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5802" y="5507038"/>
            <a:ext cx="19748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780"/>
              </a:spcBef>
              <a:spcAft>
                <a:spcPts val="0"/>
              </a:spcAft>
            </a:pPr>
            <a:r>
              <a:rPr sz="1600" b="0">
                <a:solidFill>
                  <a:srgbClr val="B0B0B0"/>
                </a:solidFill>
              </a:rPr>
              <a:t>值越低，模型越准确</a:t>
            </a:r>
            <a:endParaRPr sz="1600" b="0">
              <a:solidFill>
                <a:srgbClr val="B0B0B0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14737" y="1311519"/>
            <a:ext cx="304792" cy="234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33826" y="1207134"/>
            <a:ext cx="136144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N-gram 模型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14737" y="1762125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667133" y="1879600"/>
            <a:ext cx="86741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Unigram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81670" y="1887537"/>
            <a:ext cx="45910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</a:rPr>
              <a:t>n=1</a:t>
            </a:r>
            <a:endParaRPr sz="1600" b="1">
              <a:solidFill>
                <a:srgbClr val="7DE54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67133" y="2268537"/>
            <a:ext cx="17716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词的出现相互独立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14737" y="2857500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4667133" y="2974975"/>
            <a:ext cx="73914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Bigram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81670" y="2992438"/>
            <a:ext cx="45910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</a:rPr>
              <a:t>n=2</a:t>
            </a:r>
            <a:endParaRPr sz="1600" b="1">
              <a:solidFill>
                <a:srgbClr val="7DE54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67133" y="3363913"/>
            <a:ext cx="146812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与前1个词相关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14737" y="3952874"/>
            <a:ext cx="3162220" cy="981074"/>
          </a:xfrm>
          <a:prstGeom prst="roundRect">
            <a:avLst>
              <a:gd name="adj" fmla="val 15533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4667133" y="4070349"/>
            <a:ext cx="78740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Trigram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81670" y="4078288"/>
            <a:ext cx="45910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</a:rPr>
              <a:t>n=3</a:t>
            </a:r>
            <a:endParaRPr sz="1600" b="1">
              <a:solidFill>
                <a:srgbClr val="7DE545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7133" y="4459287"/>
            <a:ext cx="146812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与前2个词相关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34146" y="1320311"/>
            <a:ext cx="304792" cy="2168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53236" y="1207134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马尔可夫假设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134146" y="1762125"/>
            <a:ext cx="3390815" cy="2895600"/>
          </a:xfrm>
          <a:prstGeom prst="roundRect">
            <a:avLst>
              <a:gd name="adj" fmla="val 5263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735876" y="3160395"/>
            <a:ext cx="2895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8353216" y="1923732"/>
            <a:ext cx="2677795" cy="4006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1040"/>
              </a:spcAft>
            </a:pPr>
            <a:r>
              <a:rPr sz="1600" b="0">
                <a:solidFill>
                  <a:srgbClr val="E0E0E0"/>
                </a:solidFill>
              </a:rPr>
              <a:t>当前词只与前面N-1个词有关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353216" y="2447924"/>
            <a:ext cx="2981250" cy="2019299"/>
          </a:xfrm>
          <a:prstGeom prst="roundRect">
            <a:avLst>
              <a:gd name="adj" fmla="val 3773"/>
            </a:avLst>
          </a:prstGeom>
          <a:solidFill>
            <a:srgbClr val="2A1A4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505612" y="2588578"/>
            <a:ext cx="2676458" cy="7092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0">
                <a:solidFill>
                  <a:srgbClr val="FFFFFF"/>
                </a:solidFill>
              </a:rPr>
              <a:t> P(S) = P(w</a:t>
            </a:r>
            <a:r>
              <a:rPr b="0" baseline="-25000">
                <a:solidFill>
                  <a:srgbClr val="FFFFFF"/>
                </a:solidFill>
              </a:rPr>
              <a:t>1</a:t>
            </a:r>
            <a:r>
              <a:rPr b="0">
                <a:solidFill>
                  <a:srgbClr val="FFFFFF"/>
                </a:solidFill>
              </a:rPr>
              <a:t>) ∏ P(w</a:t>
            </a:r>
            <a:r>
              <a:rPr b="0" baseline="-25000">
                <a:solidFill>
                  <a:srgbClr val="FFFFFF"/>
                </a:solidFill>
              </a:rPr>
              <a:t>i</a:t>
            </a:r>
            <a:r>
              <a:rPr b="0">
                <a:solidFill>
                  <a:srgbClr val="FFFFFF"/>
                </a:solidFill>
              </a:rPr>
              <a:t>|w</a:t>
            </a:r>
            <a:r>
              <a:rPr b="0" baseline="-25000">
                <a:solidFill>
                  <a:srgbClr val="FFFFFF"/>
                </a:solidFill>
              </a:rPr>
              <a:t>i</a:t>
            </a:r>
            <a:r>
              <a:rPr b="0">
                <a:solidFill>
                  <a:srgbClr val="FFFFFF"/>
                </a:solidFill>
              </a:rPr>
              <a:t>-</a:t>
            </a:r>
            <a:r>
              <a:rPr b="0" baseline="-25000">
                <a:solidFill>
                  <a:srgbClr val="FFFFFF"/>
                </a:solidFill>
              </a:rPr>
              <a:t>n+1</a:t>
            </a:r>
            <a:r>
              <a:rPr b="0">
                <a:solidFill>
                  <a:srgbClr val="FFFFFF"/>
                </a:solidFill>
              </a:rPr>
              <a:t>...) 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61216" y="3485833"/>
            <a:ext cx="136525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概率计算示例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05825" y="3820160"/>
            <a:ext cx="2828925" cy="6629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indent="0" algn="ctr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b="0">
                <a:solidFill>
                  <a:srgbClr val="7DE545"/>
                </a:solidFill>
              </a:rPr>
              <a:t>P(词性|的) = count(的,词性)/count(的)</a:t>
            </a:r>
            <a:endParaRPr b="0">
              <a:solidFill>
                <a:srgbClr val="7DE54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316928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Word2Vec 模型概述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320311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207134"/>
            <a:ext cx="106553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模型背景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5124321" cy="1038224"/>
          </a:xfrm>
          <a:prstGeom prst="roundRect">
            <a:avLst>
              <a:gd name="adj" fmla="val 14678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97151" y="2231707"/>
            <a:ext cx="10382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47703" y="1881505"/>
            <a:ext cx="142811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0">
                <a:solidFill>
                  <a:srgbClr val="E0E0E0"/>
                </a:solidFill>
              </a:rPr>
              <a:t>Google · 2013</a:t>
            </a:r>
            <a:endParaRPr b="0">
              <a:solidFill>
                <a:srgbClr val="E0E0E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03" y="2298699"/>
            <a:ext cx="2234565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Tomas Mikolov 团队提出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064119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2959734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模型架构对比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>
            <p:custDataLst>
              <p:tags r:id="rId3"/>
            </p:custDataLst>
          </p:nvPr>
        </p:nvSpPr>
        <p:spPr>
          <a:xfrm>
            <a:off x="666733" y="3514725"/>
            <a:ext cx="5124321" cy="1152524"/>
          </a:xfrm>
          <a:prstGeom prst="roundRect">
            <a:avLst>
              <a:gd name="adj" fmla="val 13223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857228" y="3672204"/>
            <a:ext cx="126492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CBOW 模型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2705032" y="3679825"/>
            <a:ext cx="2275205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</a:rPr>
              <a:t>Continuous Bag of Words</a:t>
            </a:r>
            <a:endParaRPr sz="1600" b="1">
              <a:solidFill>
                <a:srgbClr val="7DE545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228685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238219" y="4127499"/>
            <a:ext cx="21780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根据上下文预测中心词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666733" y="4781549"/>
            <a:ext cx="5124321" cy="1152524"/>
          </a:xfrm>
          <a:prstGeom prst="roundRect">
            <a:avLst>
              <a:gd name="adj" fmla="val 13223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857228" y="4939030"/>
            <a:ext cx="160718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Skip-gram 模型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2794523" y="4943475"/>
            <a:ext cx="99060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E545"/>
                </a:solidFill>
              </a:rPr>
              <a:t>Skip-gram</a:t>
            </a:r>
            <a:endParaRPr sz="1600" b="1">
              <a:solidFill>
                <a:srgbClr val="7DE545"/>
              </a:solidFill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57228" y="5485985"/>
            <a:ext cx="266693" cy="191328"/>
          </a:xfrm>
          <a:prstGeom prst="rect">
            <a:avLst/>
          </a:prstGeom>
        </p:spPr>
      </p:pic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1238219" y="5394325"/>
            <a:ext cx="21780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根据中心词预测上下文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19689" y="1362075"/>
            <a:ext cx="5086222" cy="4572000"/>
          </a:xfrm>
          <a:prstGeom prst="rect">
            <a:avLst/>
          </a:prstGeom>
          <a:solidFill>
            <a:srgbClr val="2A1A4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22"/>
          <p:cNvSpPr/>
          <p:nvPr/>
        </p:nvSpPr>
        <p:spPr>
          <a:xfrm>
            <a:off x="6419850" y="1362075"/>
            <a:ext cx="5086350" cy="3593465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210960" y="5337492"/>
            <a:ext cx="175768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400" b="1">
                <a:solidFill>
                  <a:srgbClr val="B0B0B0"/>
                </a:solidFill>
              </a:rPr>
              <a:t>神经网络架构示意图</a:t>
            </a:r>
            <a:endParaRPr sz="1400" b="1">
              <a:solidFill>
                <a:srgbClr val="B0B0B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385000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Skip-gram 损失函数推导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3115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207134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输入输出表示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4038499" cy="3638550"/>
          </a:xfrm>
          <a:prstGeom prst="roundRect">
            <a:avLst>
              <a:gd name="adj" fmla="val 4188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103012" y="3531870"/>
            <a:ext cx="36385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5802" y="1917699"/>
            <a:ext cx="15684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0">
                <a:solidFill>
                  <a:srgbClr val="E0E0E0"/>
                </a:solidFill>
              </a:rPr>
              <a:t>输入：目标词语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02" y="2306638"/>
            <a:ext cx="194881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x ∈ </a:t>
            </a:r>
            <a:r>
              <a:rPr lang="en-US" sz="1600" b="0">
                <a:solidFill>
                  <a:srgbClr val="7DE545"/>
                </a:solidFill>
              </a:rPr>
              <a:t>R</a:t>
            </a:r>
            <a:r>
              <a:rPr lang="en-US" sz="1600" b="0" baseline="30000">
                <a:solidFill>
                  <a:srgbClr val="7DE545"/>
                </a:solidFill>
              </a:rPr>
              <a:t>V</a:t>
            </a:r>
            <a:r>
              <a:rPr sz="1600" b="0">
                <a:solidFill>
                  <a:srgbClr val="7DE545"/>
                </a:solidFill>
              </a:rPr>
              <a:t> (one-hot向量)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02" y="2746375"/>
            <a:ext cx="11620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0">
                <a:solidFill>
                  <a:srgbClr val="E0E0E0"/>
                </a:solidFill>
              </a:rPr>
              <a:t>词向量矩阵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02" y="3135313"/>
            <a:ext cx="106616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W ∈ </a:t>
            </a:r>
            <a:r>
              <a:rPr sz="1600">
                <a:solidFill>
                  <a:srgbClr val="7DE545"/>
                </a:solidFill>
                <a:sym typeface="+mn-ea"/>
              </a:rPr>
              <a:t> </a:t>
            </a:r>
            <a:r>
              <a:rPr lang="en-US" sz="1600">
                <a:solidFill>
                  <a:srgbClr val="7DE545"/>
                </a:solidFill>
                <a:sym typeface="+mn-ea"/>
              </a:rPr>
              <a:t>R</a:t>
            </a:r>
            <a:r>
              <a:rPr lang="en-US" sz="1600" baseline="30000">
                <a:solidFill>
                  <a:srgbClr val="7DE545"/>
                </a:solidFill>
                <a:sym typeface="+mn-ea"/>
              </a:rPr>
              <a:t>V</a:t>
            </a:r>
            <a:r>
              <a:rPr lang="zh-CN" altLang="en-US" sz="1600" baseline="30000">
                <a:solidFill>
                  <a:srgbClr val="7DE545"/>
                </a:solidFill>
                <a:sym typeface="+mn-ea"/>
              </a:rPr>
              <a:t>×</a:t>
            </a:r>
            <a:r>
              <a:rPr lang="en-US" altLang="zh-CN" sz="1600" baseline="30000">
                <a:solidFill>
                  <a:srgbClr val="7DE545"/>
                </a:solidFill>
                <a:sym typeface="+mn-ea"/>
              </a:rPr>
              <a:t>D</a:t>
            </a:r>
            <a:endParaRPr lang="en-US" altLang="zh-CN" sz="1600" b="0" baseline="30000">
              <a:solidFill>
                <a:srgbClr val="7DE545"/>
              </a:solidFill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5802" y="3575050"/>
            <a:ext cx="17716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600" b="0">
                <a:solidFill>
                  <a:srgbClr val="E0E0E0"/>
                </a:solidFill>
              </a:rPr>
              <a:t>输出：上下文词语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02" y="3963988"/>
            <a:ext cx="3628934" cy="3587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y</a:t>
            </a:r>
            <a:r>
              <a:rPr sz="1200" b="0" baseline="-25000">
                <a:solidFill>
                  <a:srgbClr val="7DE545"/>
                </a:solidFill>
              </a:rPr>
              <a:t>j</a:t>
            </a:r>
            <a:r>
              <a:rPr sz="1600" b="0" baseline="-25000">
                <a:solidFill>
                  <a:srgbClr val="7DE545"/>
                </a:solidFill>
              </a:rPr>
              <a:t> </a:t>
            </a:r>
            <a:r>
              <a:rPr sz="1600" b="0">
                <a:solidFill>
                  <a:srgbClr val="7DE545"/>
                </a:solidFill>
              </a:rPr>
              <a:t>∈ </a:t>
            </a:r>
            <a:r>
              <a:rPr lang="en-US" sz="1600">
                <a:solidFill>
                  <a:srgbClr val="7DE545"/>
                </a:solidFill>
                <a:sym typeface="+mn-ea"/>
              </a:rPr>
              <a:t>R</a:t>
            </a:r>
            <a:r>
              <a:rPr lang="en-US" sz="1600" baseline="30000">
                <a:solidFill>
                  <a:srgbClr val="7DE545"/>
                </a:solidFill>
                <a:sym typeface="+mn-ea"/>
              </a:rPr>
              <a:t>V</a:t>
            </a:r>
            <a:r>
              <a:rPr sz="1600" b="0">
                <a:solidFill>
                  <a:srgbClr val="7DE545"/>
                </a:solidFill>
              </a:rPr>
              <a:t>(one-hot标签)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5802" y="4564063"/>
            <a:ext cx="127063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600" b="0">
                <a:solidFill>
                  <a:srgbClr val="C0C0C0"/>
                </a:solidFill>
              </a:rPr>
              <a:t>窗口大小：C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5802" y="4887912"/>
            <a:ext cx="149034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词向量维度：D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314817" y="1320311"/>
            <a:ext cx="304792" cy="216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33906" y="1207134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损失函数推导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14817" y="1762125"/>
            <a:ext cx="6210144" cy="2095499"/>
          </a:xfrm>
          <a:prstGeom prst="roundRect">
            <a:avLst>
              <a:gd name="adj" fmla="val 7272"/>
            </a:avLst>
          </a:prstGeom>
          <a:solidFill>
            <a:srgbClr val="2A1A48">
              <a:alpha val="50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5524361" y="1938655"/>
            <a:ext cx="174625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b="0">
                <a:solidFill>
                  <a:srgbClr val="E0E0E0"/>
                </a:solidFill>
              </a:rPr>
              <a:t>交叉熵损失函数</a:t>
            </a:r>
            <a:endParaRPr b="0">
              <a:solidFill>
                <a:srgbClr val="E0E0E0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14817" y="4048124"/>
            <a:ext cx="3028874" cy="923924"/>
          </a:xfrm>
          <a:prstGeom prst="roundRect">
            <a:avLst>
              <a:gd name="adj" fmla="val 16494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467213" y="4164013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0">
                <a:solidFill>
                  <a:srgbClr val="E0E0E0"/>
                </a:solidFill>
              </a:rPr>
              <a:t>目标词词向量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7213" y="4524058"/>
            <a:ext cx="68580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DE545"/>
                </a:solidFill>
              </a:rPr>
              <a:t>v = W</a:t>
            </a:r>
            <a:r>
              <a:rPr lang="en-US" sz="1400" b="0" baseline="30000">
                <a:solidFill>
                  <a:srgbClr val="7DE545"/>
                </a:solidFill>
              </a:rPr>
              <a:t>T</a:t>
            </a:r>
            <a:r>
              <a:rPr sz="1400" b="0">
                <a:solidFill>
                  <a:srgbClr val="7DE545"/>
                </a:solidFill>
              </a:rPr>
              <a:t>x</a:t>
            </a:r>
            <a:endParaRPr sz="1400" b="0">
              <a:solidFill>
                <a:srgbClr val="7DE545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96087" y="4048124"/>
            <a:ext cx="3028874" cy="923924"/>
          </a:xfrm>
          <a:prstGeom prst="roundRect">
            <a:avLst>
              <a:gd name="adj" fmla="val 16494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648483" y="4164013"/>
            <a:ext cx="9588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0">
                <a:solidFill>
                  <a:srgbClr val="E0E0E0"/>
                </a:solidFill>
              </a:rPr>
              <a:t>输出得分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48483" y="4524058"/>
            <a:ext cx="71882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DE545"/>
                </a:solidFill>
              </a:rPr>
              <a:t>z = W'</a:t>
            </a:r>
            <a:r>
              <a:rPr lang="en-US" sz="1400" b="0" baseline="30000">
                <a:solidFill>
                  <a:srgbClr val="7DE545"/>
                </a:solidFill>
              </a:rPr>
              <a:t>T</a:t>
            </a:r>
            <a:r>
              <a:rPr sz="1400" b="0">
                <a:solidFill>
                  <a:srgbClr val="7DE545"/>
                </a:solidFill>
              </a:rPr>
              <a:t>v</a:t>
            </a:r>
            <a:endParaRPr sz="1400" b="0">
              <a:solidFill>
                <a:srgbClr val="7DE545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314817" y="5124449"/>
            <a:ext cx="6210144" cy="1095374"/>
          </a:xfrm>
          <a:prstGeom prst="roundRect">
            <a:avLst>
              <a:gd name="adj" fmla="val 13913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816660" y="5622606"/>
            <a:ext cx="10953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5533886" y="5280025"/>
            <a:ext cx="9588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参数更新</a:t>
            </a:r>
            <a:endParaRPr sz="1600" b="0">
              <a:solidFill>
                <a:srgbClr val="E0E0E0"/>
              </a:solidFill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33886" y="5790785"/>
            <a:ext cx="266693" cy="1913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14877" y="5707063"/>
            <a:ext cx="292544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通过反向传播算法更新 W 和 W'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2421255"/>
            <a:ext cx="4657090" cy="1170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498" b="6820"/>
          <a:stretch>
            <a:fillRect/>
          </a:stretch>
        </p:blipFill>
        <p:spPr>
          <a:xfrm>
            <a:off x="3837940" y="88900"/>
            <a:ext cx="4515485" cy="6479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810" y="455295"/>
            <a:ext cx="8464550" cy="59474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193357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负采样原理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321776"/>
            <a:ext cx="304792" cy="213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207134"/>
            <a:ext cx="129540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背景与动机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5124321" cy="1123949"/>
          </a:xfrm>
          <a:prstGeom prst="roundRect">
            <a:avLst>
              <a:gd name="adj" fmla="val 13559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54289" y="2274569"/>
            <a:ext cx="11239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5802" y="1923732"/>
            <a:ext cx="4151630" cy="4006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传统 softmax 需要计算整个词汇表的概率分布</a:t>
            </a:r>
            <a:endParaRPr sz="1600" b="0">
              <a:solidFill>
                <a:srgbClr val="E0E0E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85802" y="2489835"/>
            <a:ext cx="228594" cy="125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0595" y="2373313"/>
            <a:ext cx="2381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计算量巨大，训练效率低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2859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5822" y="3045459"/>
            <a:ext cx="106553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核心思想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6733" y="3600450"/>
            <a:ext cx="5124321" cy="1847849"/>
          </a:xfrm>
          <a:prstGeom prst="roundRect">
            <a:avLst>
              <a:gd name="adj" fmla="val 8247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207661" y="4474844"/>
            <a:ext cx="18478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85802" y="3762056"/>
            <a:ext cx="2990850" cy="4006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用少量负样本替代计算所有词汇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5802" y="4362450"/>
            <a:ext cx="57148" cy="5715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019149" y="4211638"/>
            <a:ext cx="196850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随机采样 K 个负样本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5802" y="4724399"/>
            <a:ext cx="57148" cy="5715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1019149" y="4573587"/>
            <a:ext cx="223901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计算量从 O(V) 降至 O(K)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5802" y="5086350"/>
            <a:ext cx="57148" cy="5715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019149" y="4935538"/>
            <a:ext cx="132334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K 通常为 5-20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00639" y="1320311"/>
            <a:ext cx="304792" cy="2168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19729" y="1207134"/>
            <a:ext cx="106553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损失函数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639" y="1762125"/>
            <a:ext cx="5124321" cy="1981199"/>
          </a:xfrm>
          <a:prstGeom prst="roundRect">
            <a:avLst>
              <a:gd name="adj" fmla="val 7692"/>
            </a:avLst>
          </a:prstGeom>
          <a:solidFill>
            <a:srgbClr val="2A1A48">
              <a:alpha val="50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6400639" y="3895724"/>
            <a:ext cx="2485962" cy="923924"/>
          </a:xfrm>
          <a:prstGeom prst="roundRect">
            <a:avLst>
              <a:gd name="adj" fmla="val 16494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553036" y="4011611"/>
            <a:ext cx="116840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E0E0E0"/>
                </a:solidFill>
              </a:rPr>
              <a:t>正样本损失</a:t>
            </a:r>
            <a:endParaRPr sz="1600" b="1">
              <a:solidFill>
                <a:srgbClr val="E0E0E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53036" y="4259262"/>
            <a:ext cx="1829435" cy="558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</a:rPr>
              <a:t>最大化目标词与上下文词</a:t>
            </a:r>
            <a:endParaRPr sz="1200" b="1">
              <a:solidFill>
                <a:srgbClr val="7DE545"/>
              </a:solidFill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</a:rPr>
              <a:t>的相关性</a:t>
            </a:r>
            <a:endParaRPr sz="1200" b="1">
              <a:solidFill>
                <a:srgbClr val="7DE545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038999" y="3895724"/>
            <a:ext cx="2485962" cy="923924"/>
          </a:xfrm>
          <a:prstGeom prst="roundRect">
            <a:avLst>
              <a:gd name="adj" fmla="val 16494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9191395" y="4011611"/>
            <a:ext cx="116840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E0E0E0"/>
                </a:solidFill>
              </a:rPr>
              <a:t>负样本损失</a:t>
            </a:r>
            <a:endParaRPr sz="1600" b="1">
              <a:solidFill>
                <a:srgbClr val="E0E0E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91395" y="4259262"/>
            <a:ext cx="1676400" cy="558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</a:rPr>
              <a:t>最小化目标词与负样本</a:t>
            </a:r>
            <a:endParaRPr sz="1200" b="1">
              <a:solidFill>
                <a:srgbClr val="7DE545"/>
              </a:solidFill>
            </a:endParaRP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E545"/>
                </a:solidFill>
              </a:rPr>
              <a:t>的相关性</a:t>
            </a:r>
            <a:endParaRPr sz="1200" b="1">
              <a:solidFill>
                <a:srgbClr val="7DE545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639" y="4972050"/>
            <a:ext cx="5124321" cy="1095374"/>
          </a:xfrm>
          <a:prstGeom prst="roundRect">
            <a:avLst>
              <a:gd name="adj" fmla="val 13913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902482" y="5470207"/>
            <a:ext cx="10953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6619709" y="5127625"/>
            <a:ext cx="9588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核心优势</a:t>
            </a:r>
            <a:endParaRPr sz="1600" b="0">
              <a:solidFill>
                <a:srgbClr val="E0E0E0"/>
              </a:solidFill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19709" y="5620992"/>
            <a:ext cx="266693" cy="2261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00699" y="5554663"/>
            <a:ext cx="3397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大幅降低计算量，适合大规模数据集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2004695"/>
            <a:ext cx="4512945" cy="1423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657"/>
          <a:stretch>
            <a:fillRect/>
          </a:stretch>
        </p:blipFill>
        <p:spPr>
          <a:xfrm>
            <a:off x="3654425" y="62230"/>
            <a:ext cx="4613910" cy="6401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619760"/>
            <a:ext cx="10218420" cy="5300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253301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GloVe 模型详解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25436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22" y="1159510"/>
            <a:ext cx="106553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模型背景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33" y="1714500"/>
            <a:ext cx="3390815" cy="1704975"/>
          </a:xfrm>
          <a:prstGeom prst="roundRect">
            <a:avLst>
              <a:gd name="adj" fmla="val 8938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36224" y="2517457"/>
            <a:ext cx="17049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5802" y="1871979"/>
            <a:ext cx="155702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b="0">
                <a:solidFill>
                  <a:srgbClr val="E0E0E0"/>
                </a:solidFill>
              </a:rPr>
              <a:t>Stanford · 2014</a:t>
            </a:r>
            <a:endParaRPr b="0">
              <a:solidFill>
                <a:srgbClr val="E0E0E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02" y="2305368"/>
            <a:ext cx="2981250" cy="60896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Global Vectors for Word Representation</a:t>
            </a:r>
            <a:endParaRPr sz="1600" b="0">
              <a:solidFill>
                <a:srgbClr val="C0C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02" y="2933383"/>
            <a:ext cx="263525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400" b="0">
                <a:solidFill>
                  <a:srgbClr val="7DE545"/>
                </a:solidFill>
              </a:rPr>
              <a:t>基于全局统计信息的词向量模型</a:t>
            </a:r>
            <a:endParaRPr sz="1400" b="0">
              <a:solidFill>
                <a:srgbClr val="7DE545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66199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5822" y="3578860"/>
            <a:ext cx="15252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共现矩阵构建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6733" y="4133849"/>
            <a:ext cx="3390815" cy="1695449"/>
          </a:xfrm>
          <a:prstGeom prst="roundRect">
            <a:avLst>
              <a:gd name="adj" fmla="val 8988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131461" y="4932043"/>
            <a:ext cx="16954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85802" y="4289424"/>
            <a:ext cx="177165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统计词对共现频率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5802" y="4752974"/>
            <a:ext cx="2981250" cy="485775"/>
          </a:xfrm>
          <a:prstGeom prst="roundRect">
            <a:avLst>
              <a:gd name="adj" fmla="val 15686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000099" y="4828857"/>
            <a:ext cx="2752656" cy="33401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DE545"/>
                </a:solidFill>
              </a:rPr>
              <a:t> P(w</a:t>
            </a:r>
            <a:r>
              <a:rPr sz="1400" b="0" baseline="-25000">
                <a:solidFill>
                  <a:srgbClr val="7DE545"/>
                </a:solidFill>
              </a:rPr>
              <a:t>i</a:t>
            </a:r>
            <a:r>
              <a:rPr sz="2000" b="0">
                <a:solidFill>
                  <a:srgbClr val="7DE545"/>
                </a:solidFill>
              </a:rPr>
              <a:t>, w</a:t>
            </a:r>
            <a:r>
              <a:rPr sz="1400" b="0" baseline="-25000">
                <a:solidFill>
                  <a:srgbClr val="7DE545"/>
                </a:solidFill>
              </a:rPr>
              <a:t>j</a:t>
            </a:r>
            <a:r>
              <a:rPr sz="2000" b="0">
                <a:solidFill>
                  <a:srgbClr val="7DE545"/>
                </a:solidFill>
              </a:rPr>
              <a:t>) </a:t>
            </a:r>
            <a:endParaRPr sz="2000" b="0">
              <a:solidFill>
                <a:srgbClr val="7DE54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5802" y="5316537"/>
            <a:ext cx="19748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滑动窗口遍历语料库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92817" y="1254369"/>
            <a:ext cx="304792" cy="2344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11906" y="1159510"/>
            <a:ext cx="106553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损失函数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71975" y="1714500"/>
            <a:ext cx="3728085" cy="1943100"/>
          </a:xfrm>
          <a:prstGeom prst="roundRect">
            <a:avLst>
              <a:gd name="adj" fmla="val 7843"/>
            </a:avLst>
          </a:prstGeom>
          <a:solidFill>
            <a:srgbClr val="2A1A48">
              <a:alpha val="50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4514850" y="1831975"/>
            <a:ext cx="3449320" cy="1587500"/>
          </a:xfrm>
          <a:prstGeom prst="roundRect">
            <a:avLst>
              <a:gd name="adj" fmla="val 4761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153535" y="2154555"/>
                <a:ext cx="4172585" cy="775970"/>
              </a:xfrm>
              <a:prstGeom prst="rect">
                <a:avLst/>
              </a:prstGeom>
              <a:noFill/>
            </p:spPr>
            <p:txBody>
              <a:bodyPr wrap="square" lIns="73152" tIns="54864" rIns="73152" bIns="54864" anchor="ctr" anchorCtr="0">
                <a:noAutofit/>
              </a:bodyPr>
              <a:lstStyle/>
              <a:p>
                <a:pPr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sup>
                        <m:e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+</m:t>
                          </m:r>
                          <m:sSub>
                            <m:sSubPr>
                              <m:ctrlP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600" b="0" i="1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1600" b="0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600" b="0">
                                  <a:solidFill>
                                    <a:srgbClr val="FFFFFF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600" b="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600" b="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600" b="0" i="1">
                              <a:solidFill>
                                <a:srgbClr val="FFFFFF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600" b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535" y="2154555"/>
                <a:ext cx="4172585" cy="775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/>
          <p:cNvSpPr/>
          <p:nvPr/>
        </p:nvSpPr>
        <p:spPr>
          <a:xfrm>
            <a:off x="4514850" y="3810000"/>
            <a:ext cx="3583305" cy="1619250"/>
          </a:xfrm>
          <a:prstGeom prst="roundRect">
            <a:avLst>
              <a:gd name="adj" fmla="val 9411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609862" y="4570094"/>
            <a:ext cx="16192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695707" y="3927474"/>
            <a:ext cx="1278255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600" b="0">
                <a:solidFill>
                  <a:srgbClr val="E0E0E0"/>
                </a:solidFill>
              </a:rPr>
              <a:t>权重函数 f(x)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95707" y="4391025"/>
            <a:ext cx="2828854" cy="485775"/>
          </a:xfrm>
          <a:prstGeom prst="roundRect">
            <a:avLst>
              <a:gd name="adj" fmla="val 15686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4810004" y="4466908"/>
            <a:ext cx="2600259" cy="33401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DE545"/>
                </a:solidFill>
              </a:rPr>
              <a:t> f(x) = min(1, (x/x</a:t>
            </a:r>
            <a:r>
              <a:rPr sz="1400" b="0">
                <a:solidFill>
                  <a:srgbClr val="7DE545"/>
                </a:solidFill>
              </a:rPr>
              <a:t>max</a:t>
            </a:r>
            <a:r>
              <a:rPr sz="2000" b="0">
                <a:solidFill>
                  <a:srgbClr val="7DE545"/>
                </a:solidFill>
              </a:rPr>
              <a:t>)</a:t>
            </a:r>
            <a:r>
              <a:rPr sz="2000" b="0" baseline="30000">
                <a:solidFill>
                  <a:srgbClr val="7DE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ɑ</a:t>
            </a:r>
            <a:r>
              <a:rPr sz="2000" b="0">
                <a:solidFill>
                  <a:srgbClr val="7DE545"/>
                </a:solidFill>
              </a:rPr>
              <a:t>) </a:t>
            </a:r>
            <a:endParaRPr sz="2000" b="0">
              <a:solidFill>
                <a:srgbClr val="7DE545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95707" y="4954588"/>
            <a:ext cx="2584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0C0C0"/>
                </a:solidFill>
              </a:rPr>
              <a:t>避免高频词对训练影响过大</a:t>
            </a:r>
            <a:endParaRPr sz="1600" b="0">
              <a:solidFill>
                <a:srgbClr val="C0C0C0"/>
              </a:solidFill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34146" y="1277815"/>
            <a:ext cx="304792" cy="1875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53236" y="1159510"/>
            <a:ext cx="129540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优势与局限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34146" y="1714500"/>
            <a:ext cx="3390815" cy="1628775"/>
          </a:xfrm>
          <a:prstGeom prst="roundRect">
            <a:avLst>
              <a:gd name="adj" fmla="val 9356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86542" y="192214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91335" y="1831974"/>
            <a:ext cx="55499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优势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591335" y="23812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8705632" y="2220913"/>
            <a:ext cx="17716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利用全局统计信息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91335" y="2705099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8705632" y="2544763"/>
            <a:ext cx="17716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捕捉线性语义关系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591335" y="30289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8705632" y="2868611"/>
            <a:ext cx="11620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计算效率高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134146" y="3457575"/>
            <a:ext cx="3390815" cy="1628775"/>
          </a:xfrm>
          <a:prstGeom prst="roundRect">
            <a:avLst>
              <a:gd name="adj" fmla="val 9356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86542" y="3679031"/>
            <a:ext cx="228594" cy="1857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91335" y="3575050"/>
            <a:ext cx="55499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局限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591335" y="4124324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8705632" y="3963988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忽略词序信息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591335" y="4448175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8705632" y="4287837"/>
            <a:ext cx="11620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内存消耗大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591335" y="4772025"/>
            <a:ext cx="38099" cy="38100"/>
          </a:xfrm>
          <a:prstGeom prst="roundRect">
            <a:avLst>
              <a:gd name="adj" fmla="val 5000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8705632" y="4611688"/>
            <a:ext cx="1568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不适合动态学习</a:t>
            </a:r>
            <a:endParaRPr sz="1600" b="0">
              <a:solidFill>
                <a:srgbClr val="E0E0E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067549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380047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Word2Vec vs GloVe 对比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276350"/>
            <a:ext cx="2952676" cy="2543175"/>
          </a:xfrm>
          <a:prstGeom prst="roundRect">
            <a:avLst>
              <a:gd name="adj" fmla="val 5992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38814" y="2481897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895327" y="1524414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1431924"/>
            <a:ext cx="96393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训练方式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5327" y="194310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009624" y="2018983"/>
            <a:ext cx="88900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Word2Vec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9624" y="2306638"/>
            <a:ext cx="1568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局部上下文预测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5327" y="2819399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009624" y="2895281"/>
            <a:ext cx="57340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GloVe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9624" y="3201988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全局共现统计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48003" y="1276350"/>
            <a:ext cx="2952676" cy="2543175"/>
          </a:xfrm>
          <a:prstGeom prst="roundRect">
            <a:avLst>
              <a:gd name="adj" fmla="val 5992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642456" y="2481897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076598" y="1515717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57588" y="1431924"/>
            <a:ext cx="96393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模型类型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76598" y="194310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190895" y="2018983"/>
            <a:ext cx="88900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Word2Vec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90895" y="2306638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神经网络模型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76598" y="2819399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4190895" y="2895281"/>
            <a:ext cx="57340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GloVe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90895" y="3201988"/>
            <a:ext cx="9588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统计模型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6733" y="4057650"/>
            <a:ext cx="2952676" cy="2543175"/>
          </a:xfrm>
          <a:prstGeom prst="roundRect">
            <a:avLst>
              <a:gd name="adj" fmla="val 5992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538814" y="5263197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4287492"/>
            <a:ext cx="266693" cy="2261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76318" y="4213225"/>
            <a:ext cx="96393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信息捕捉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5327" y="470535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1009624" y="4781233"/>
            <a:ext cx="88900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Word2Vec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9624" y="5087936"/>
            <a:ext cx="1568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局部上下文关系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5327" y="560070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009624" y="5676583"/>
            <a:ext cx="57340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GloVe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9624" y="5964238"/>
            <a:ext cx="13652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全局统计信息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848003" y="4057650"/>
            <a:ext cx="2952676" cy="2543175"/>
          </a:xfrm>
          <a:prstGeom prst="roundRect">
            <a:avLst>
              <a:gd name="adj" fmla="val 5992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2642456" y="5263197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76598" y="4306335"/>
            <a:ext cx="266693" cy="1884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457588" y="4213225"/>
            <a:ext cx="96393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训练效率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076598" y="470535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4190895" y="4781233"/>
            <a:ext cx="88900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Word2Vec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90895" y="5087936"/>
            <a:ext cx="9588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相对较慢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076598" y="5600700"/>
            <a:ext cx="2533586" cy="809625"/>
          </a:xfrm>
          <a:prstGeom prst="roundRect">
            <a:avLst>
              <a:gd name="adj" fmla="val 9411"/>
            </a:avLst>
          </a:prstGeom>
          <a:solidFill>
            <a:srgbClr val="2A1A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4190895" y="5676583"/>
            <a:ext cx="57340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E0E0E0"/>
                </a:solidFill>
              </a:rPr>
              <a:t>GloVe</a:t>
            </a:r>
            <a:endParaRPr sz="1400" b="0">
              <a:solidFill>
                <a:srgbClr val="E0E0E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90895" y="5964238"/>
            <a:ext cx="156845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E545"/>
                </a:solidFill>
              </a:rPr>
              <a:t>适合大规模数据</a:t>
            </a:r>
            <a:endParaRPr sz="1600" b="0">
              <a:solidFill>
                <a:srgbClr val="7DE545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581900" y="1257300"/>
            <a:ext cx="3924300" cy="303022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8497965" y="4597717"/>
            <a:ext cx="219075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1040"/>
              </a:spcBef>
              <a:spcAft>
                <a:spcPts val="0"/>
              </a:spcAft>
            </a:pPr>
            <a:r>
              <a:rPr sz="1600" b="1">
                <a:solidFill>
                  <a:srgbClr val="B0B0B0"/>
                </a:solidFill>
              </a:rPr>
              <a:t>词向量语义关系可视化</a:t>
            </a:r>
            <a:endParaRPr sz="1600" b="1">
              <a:solidFill>
                <a:srgbClr val="B0B0B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96149"/>
          </a:xfrm>
          <a:prstGeom prst="rect">
            <a:avLst/>
          </a:prstGeom>
          <a:solidFill>
            <a:srgbClr val="2A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66733" y="95568"/>
            <a:ext cx="1933575" cy="6089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总结与思考</a:t>
            </a:r>
            <a:endParaRPr sz="2800" b="1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5400538" y="1422837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5473" y="1259840"/>
            <a:ext cx="1370330" cy="5092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</a:rPr>
              <a:t>发展脉络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93720" y="1971675"/>
            <a:ext cx="1585595" cy="904875"/>
          </a:xfrm>
          <a:prstGeom prst="roundRect">
            <a:avLst>
              <a:gd name="adj" fmla="val 16842"/>
            </a:avLst>
          </a:prstGeom>
          <a:solidFill>
            <a:srgbClr val="7DE545">
              <a:alpha val="8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147279" y="2072004"/>
            <a:ext cx="152527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DE545"/>
                </a:solidFill>
              </a:rPr>
              <a:t>统计语言模型</a:t>
            </a:r>
            <a:endParaRPr b="1">
              <a:solidFill>
                <a:srgbClr val="7DE54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49184" y="2447608"/>
            <a:ext cx="152146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N-gram · 马尔可夫</a:t>
            </a:r>
            <a:endParaRPr sz="1400" b="0">
              <a:solidFill>
                <a:srgbClr val="C0C0C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867153" y="2310911"/>
            <a:ext cx="304792" cy="2168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00539" y="1971675"/>
            <a:ext cx="1609684" cy="904874"/>
          </a:xfrm>
          <a:prstGeom prst="roundRect">
            <a:avLst>
              <a:gd name="adj" fmla="val 16842"/>
            </a:avLst>
          </a:prstGeom>
          <a:solidFill>
            <a:srgbClr val="7DE545">
              <a:alpha val="8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646899" y="2072004"/>
            <a:ext cx="1116965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DE545"/>
                </a:solidFill>
              </a:rPr>
              <a:t>Word2Vec</a:t>
            </a:r>
            <a:endParaRPr b="1">
              <a:solidFill>
                <a:srgbClr val="7DE54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2747" y="2447608"/>
            <a:ext cx="1525270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Skip-gram · 负采样</a:t>
            </a:r>
            <a:endParaRPr sz="1400" b="0">
              <a:solidFill>
                <a:srgbClr val="C0C0C0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238819" y="2310911"/>
            <a:ext cx="304792" cy="2168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0" y="1971675"/>
            <a:ext cx="1706245" cy="904875"/>
          </a:xfrm>
          <a:prstGeom prst="roundRect">
            <a:avLst>
              <a:gd name="adj" fmla="val 16842"/>
            </a:avLst>
          </a:prstGeom>
          <a:solidFill>
            <a:srgbClr val="7DE545">
              <a:alpha val="8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036985" y="2072004"/>
            <a:ext cx="708660" cy="4089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7DE545"/>
                </a:solidFill>
              </a:rPr>
              <a:t>GloVe</a:t>
            </a:r>
            <a:endParaRPr b="1">
              <a:solidFill>
                <a:srgbClr val="7DE54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5052" y="2447608"/>
            <a:ext cx="1693545" cy="3340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C0C0C0"/>
                </a:solidFill>
              </a:rPr>
              <a:t>全局共现 · 矩阵分解</a:t>
            </a:r>
            <a:endParaRPr sz="1400" b="0">
              <a:solidFill>
                <a:srgbClr val="C0C0C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6733" y="3257550"/>
            <a:ext cx="3467013" cy="1857375"/>
          </a:xfrm>
          <a:prstGeom prst="roundRect">
            <a:avLst>
              <a:gd name="adj" fmla="val 8205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195914" y="4120197"/>
            <a:ext cx="1857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471496"/>
            <a:ext cx="304792" cy="2579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413124"/>
            <a:ext cx="116840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关键知识点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5327" y="3878263"/>
            <a:ext cx="197421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Skip-gram 损失推导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5327" y="4240213"/>
            <a:ext cx="171513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负采样优化原理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27" y="4602162"/>
            <a:ext cx="1639570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GloVe 共现矩阵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62340" y="3257550"/>
            <a:ext cx="3467013" cy="1857375"/>
          </a:xfrm>
          <a:prstGeom prst="roundRect">
            <a:avLst>
              <a:gd name="adj" fmla="val 8205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499693" y="4120197"/>
            <a:ext cx="1857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90935" y="3456842"/>
            <a:ext cx="304792" cy="2872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10024" y="3413124"/>
            <a:ext cx="96393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本质对比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90935" y="3878263"/>
            <a:ext cx="136715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预测 vs 统计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0935" y="4240213"/>
            <a:ext cx="136715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局部 vs 全局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90935" y="4602162"/>
            <a:ext cx="177355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神经网络 vs 矩阵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57948" y="3257550"/>
            <a:ext cx="3467013" cy="1857375"/>
          </a:xfrm>
          <a:prstGeom prst="roundRect">
            <a:avLst>
              <a:gd name="adj" fmla="val 8205"/>
            </a:avLst>
          </a:prstGeom>
          <a:solidFill>
            <a:srgbClr val="7DE54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195301" y="4120197"/>
            <a:ext cx="1857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DE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2" y="3518388"/>
            <a:ext cx="304792" cy="1641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05632" y="3413124"/>
            <a:ext cx="1168400" cy="384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下一步学习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6542" y="3878263"/>
            <a:ext cx="151193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实践代码实现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86542" y="4240213"/>
            <a:ext cx="151193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性能评估方法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86542" y="4602162"/>
            <a:ext cx="1511935" cy="3587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E0E0E0"/>
                </a:solidFill>
              </a:rPr>
              <a:t>• 进阶模型探索</a:t>
            </a:r>
            <a:endParaRPr sz="1600" b="0">
              <a:solidFill>
                <a:srgbClr val="E0E0E0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66733" y="5495924"/>
            <a:ext cx="10858228" cy="1323974"/>
          </a:xfrm>
          <a:prstGeom prst="roundRect">
            <a:avLst>
              <a:gd name="adj" fmla="val 11510"/>
            </a:avLst>
          </a:prstGeom>
          <a:solidFill>
            <a:srgbClr val="7DE54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05352" y="5761732"/>
            <a:ext cx="380990" cy="3065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034512" y="6188710"/>
            <a:ext cx="6122670" cy="4337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</a:rPr>
              <a:t>从统计语言模型到神经网络词嵌入，理解词向量的演进历程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2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3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4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5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6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7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8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9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0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1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2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3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4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5.xml><?xml version="1.0" encoding="utf-8"?>
<p:tagLst xmlns:p="http://schemas.openxmlformats.org/presentationml/2006/main">
  <p:tag name="KSO_WM_DIAGRAM_VIRTUALLY_FRAME" val="{&quot;height&quot;:309.55,&quot;left&quot;:439.9865354330708,&quot;top&quot;:139.05,&quot;width&quot;:368.9907086614174}"/>
</p:tagLst>
</file>

<file path=ppt/tags/tag16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17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18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19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0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1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2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3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4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ags/tag25.xml><?xml version="1.0" encoding="utf-8"?>
<p:tagLst xmlns:p="http://schemas.openxmlformats.org/presentationml/2006/main">
  <p:tag name="KSO_WM_DIAGRAM_VIRTUALLY_FRAME" val="{&quot;height&quot;:190.499842519685,&quot;left&quot;:52.49866141732283,&quot;top&quot;:276.75,&quot;width&quot;:403.489842519685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WPS 演示</Application>
  <PresentationFormat>On-screen Show (4:3)</PresentationFormat>
  <Paragraphs>320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Cambria Math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 冯亚枝</cp:lastModifiedBy>
  <cp:revision>12</cp:revision>
  <dcterms:created xsi:type="dcterms:W3CDTF">2013-01-27T09:14:00Z</dcterms:created>
  <dcterms:modified xsi:type="dcterms:W3CDTF">2026-03-12T01:07:03Z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FF48FDE7B1BC48EE99E5097B2513CD6E_12</vt:lpwstr>
  </property>
  <property fmtid="{D5CDD505-2E9C-101B-9397-08002B2CF9AE}" pid="3" name="KSOProductBuildVer">
    <vt:lpwstr>2052-12.1.0.25222</vt:lpwstr>
  </property>
</Properties>
</file>